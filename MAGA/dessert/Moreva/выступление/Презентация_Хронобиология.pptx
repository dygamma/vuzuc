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" cy="2286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  ·  2026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02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МАЛОИЗВЕСТНАЯ НАУКА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Хронобиология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731520" cy="0"/>
          </a:xfrm>
          <a:prstGeom prst="line">
            <a:avLst/>
          </a:prstGeom>
          <a:noFill/>
          <a:ln w="25400">
            <a:solidFill>
              <a:srgbClr val="F4B8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 научной состоятельности дисциплины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 по дисциплине «Планирование и проведение научных исследований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области автоматизации и управления технологическими процессами»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02  ·  ОПРЕДЕЛЕНИЕ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хронобиология?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Хронобиология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 греч. chronos — время, bios — жизнь, logos — учение) — междисциплинарная наука, изучающая периодические (циклические) процессы в живых организмах, их природу и механизмы регуляции.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изучения — биологические ритмы: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417320"/>
            <a:ext cx="73152" cy="960120"/>
          </a:xfrm>
          <a:prstGeom prst="rect">
            <a:avLst/>
          </a:prstGeom>
          <a:solidFill>
            <a:srgbClr val="3DAFC2"/>
          </a:solidFill>
          <a:ln w="12700">
            <a:solidFill>
              <a:srgbClr val="3DAFC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618488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465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Циркадные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465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24 часа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6520" y="2075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сон/бодрствование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2532888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532888"/>
            <a:ext cx="73152" cy="960120"/>
          </a:xfrm>
          <a:prstGeom prst="rect">
            <a:avLst/>
          </a:prstGeom>
          <a:solidFill>
            <a:srgbClr val="3DAFC2"/>
          </a:solidFill>
          <a:ln w="12700">
            <a:solidFill>
              <a:srgbClr val="3DAFC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734056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2624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Ультрадианные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46520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часов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46520" y="3191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фазы сна (≈ 90 мин)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577840" y="3648456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577840" y="3648456"/>
            <a:ext cx="73152" cy="960120"/>
          </a:xfrm>
          <a:prstGeom prst="rect">
            <a:avLst/>
          </a:prstGeom>
          <a:solidFill>
            <a:srgbClr val="3DAFC2"/>
          </a:solidFill>
          <a:ln w="12700">
            <a:solidFill>
              <a:srgbClr val="3DAFC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849624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3739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Инфрадианные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46520" y="4059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24 часов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46520" y="4306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лунные, годовые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03  ·  ИСТОРИЯ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Становление хронобиологии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0"/>
          </a:xfrm>
          <a:prstGeom prst="line">
            <a:avLst/>
          </a:prstGeom>
          <a:noFill/>
          <a:ln w="38100">
            <a:solidFill>
              <a:srgbClr val="3DAF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542032"/>
            <a:ext cx="402336" cy="402336"/>
          </a:xfrm>
          <a:prstGeom prst="ellipse">
            <a:avLst/>
          </a:prstGeom>
          <a:solidFill>
            <a:srgbClr val="F4B860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Меран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Французский астроном наблюдает суточный ритм листьев мимозы в темноте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2542032"/>
            <a:ext cx="402336" cy="402336"/>
          </a:xfrm>
          <a:prstGeom prst="ellipse">
            <a:avLst/>
          </a:prstGeom>
          <a:solidFill>
            <a:srgbClr val="F4B860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 Хальберг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 термин «циркадный», создаёт косинор-анализ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30952" y="2542032"/>
            <a:ext cx="402336" cy="402336"/>
          </a:xfrm>
          <a:prstGeom prst="ellipse">
            <a:avLst/>
          </a:prstGeom>
          <a:solidFill>
            <a:srgbClr val="F4B860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1960-е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Ю. Ашофф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эксперименты в бункерах, законы биоритмов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51192" y="2542032"/>
            <a:ext cx="402336" cy="402336"/>
          </a:xfrm>
          <a:prstGeom prst="ellipse">
            <a:avLst/>
          </a:prstGeom>
          <a:solidFill>
            <a:srgbClr val="F4B860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Нобелевская премия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Холл, Росбаш, Янг — молекулярные гены циркадных ритмов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ботанических наблюдений XVIII века — к молекулярной генетике XXI века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04  ·  КЛЮЧЕВОЕ ДОКАЗАТЕЛЬСТВО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Нобелевская премия 2017 г.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200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0020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Нобелевская премия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физиологии и медицине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 открытие молекулярных механизмов циркадного ритма»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Лауреаты: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0" y="1783080"/>
            <a:ext cx="54864" cy="5943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8013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Джеффри Холл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Брандейский университет, США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2514600"/>
            <a:ext cx="54864" cy="5943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5328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Майкл Росбаш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Брандейский университет, США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3246120"/>
            <a:ext cx="54864" cy="5943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26440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Майкл Янг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 Рокфеллера, США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4023360"/>
            <a:ext cx="4114800" cy="731520"/>
          </a:xfrm>
          <a:prstGeom prst="rect">
            <a:avLst/>
          </a:prstGeom>
          <a:solidFill>
            <a:srgbClr val="E6F4F7"/>
          </a:solidFill>
          <a:ln w="12700">
            <a:solidFill>
              <a:srgbClr val="3DAFC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Открытие: </a:t>
            </a:r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работы генов </a:t>
            </a:r>
            <a:pPr indent="0" marL="0">
              <a:buNone/>
            </a:pPr>
            <a:r>
              <a:rPr lang="en-US" sz="1100" b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и TIM</a:t>
            </a:r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биологических часов на клеточном уровне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05  ·  ДОКАЗАТЕЛЬСТВО НАУЧНОСТИ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Черты науки (1–6)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Универсальность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Механизмы биочасов одинаковы для всех людей и живых организмов — от дрожжей до млекопитающих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1581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Фрагментарность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Изучает только временную организацию жизненных процессов, а не всю биологию целиком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544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581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Общезначимость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 применимы в медицине, фармакологии, космической биологии, спорте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Обезличенность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гена PER подтверждено множеством независимых лабораторий мира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175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2336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Систематичность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7472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Структура: молекулярная, клеточная, физиологическая, хрономедицина, хронопсихология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1546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Незавершённость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508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Непрерывно открываются новые гены, связи ритмов с онкологией, диабетом, психиатрией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06  ·  ДОКАЗАТЕЛЬСТВО НАУЧНОСТИ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Черты науки (7–12)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Преемственность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наблюдений де Мерана 1729 г. через Хальберга и Ашоффа к молекулярной биологии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1581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 идеи единственного «главного» водителя ритма после открытия периферических осцилляторов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544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581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Достоверность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 Ашоффа в бункерах воспроизведены десятками лабораторий с одинаковым результатом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Внеморальность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ночной выработки мелатонина нейтрален в морально-этическом плане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175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2336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Рациональность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7472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Математический аппарат: косинор-анализ, дифференциальные уравнения осцилляторов Ван дер Поля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1546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Чувственность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508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Эмпирические методы: актография, измерение гормонов, ЭЭГ, генетический анализ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07  ·  КРИТЕРИИ ДЕМАРКАЦИИ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Верификация и фальсификация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73152"/>
          </a:xfrm>
          <a:prstGeom prst="rect">
            <a:avLst/>
          </a:prstGeom>
          <a:solidFill>
            <a:srgbClr val="3DAFC2"/>
          </a:solidFill>
          <a:ln w="12700">
            <a:solidFill>
              <a:srgbClr val="3DAFC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ВЕРИФИКАЦИЯ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истинности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 хронобиологии подтверждаются эмпирически: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 мелатонина в крови ночью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температуры и активности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 с изоляцией в бункерах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Генетический анализ часовых генов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41732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417320"/>
            <a:ext cx="411480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459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ФАЛЬСИФИКАЦИЯ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57784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К. Поппера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0060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Теории могут быть опровергнуты экспериментом: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0060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Возможен опровергающий опыт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не защищена от критики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мысленный эксперимент-опровержение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Отличает науку от лженауки о «биоритмах»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08  ·  ПРИМЕНЕНИЕ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Практическое значение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0" cy="822960"/>
          </a:xfrm>
          <a:prstGeom prst="ellipse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5623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91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Хронофармакология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Оптимальное время приёма лекарств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691640"/>
            <a:ext cx="822960" cy="822960"/>
          </a:xfrm>
          <a:prstGeom prst="ellipse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8562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1691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 сна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80560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Бессонница, апноэ, нарколепсия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1691640"/>
            <a:ext cx="822960" cy="822960"/>
          </a:xfrm>
          <a:prstGeom prst="ellipse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85623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0920" y="1691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Лечение джетлага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60920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Перестройка ритмов при перелётах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246120"/>
            <a:ext cx="822960" cy="822960"/>
          </a:xfrm>
          <a:prstGeom prst="ellipse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10712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Сменная работа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600200" y="3657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ночных смен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37560" y="2971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20440" y="3246120"/>
            <a:ext cx="822960" cy="822960"/>
          </a:xfrm>
          <a:prstGeom prst="ellipse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3410712"/>
            <a:ext cx="493776" cy="4937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8056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Спортивная медицина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80560" y="3657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Пиковая форма в нужное время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2971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00800" y="3246120"/>
            <a:ext cx="822960" cy="822960"/>
          </a:xfrm>
          <a:prstGeom prst="ellipse">
            <a:avLst/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410712"/>
            <a:ext cx="493776" cy="4937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6092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360920" y="3657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биоритмов персонала производств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" cy="2286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Хронобиология 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полноценная наука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697480" cy="1371600"/>
          </a:xfrm>
          <a:prstGeom prst="rect">
            <a:avLst/>
          </a:prstGeom>
          <a:solidFill>
            <a:srgbClr val="253B63"/>
          </a:solidFill>
          <a:ln w="12700">
            <a:solidFill>
              <a:srgbClr val="3DAF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077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 науки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соответствие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2697480" cy="1371600"/>
          </a:xfrm>
          <a:prstGeom prst="rect">
            <a:avLst/>
          </a:prstGeom>
          <a:solidFill>
            <a:srgbClr val="253B63"/>
          </a:solidFill>
          <a:ln w="12700">
            <a:solidFill>
              <a:srgbClr val="3DAF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9077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337560" y="3611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критерия демаркации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913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и Поппер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2697480" cy="1371600"/>
          </a:xfrm>
          <a:prstGeom prst="rect">
            <a:avLst/>
          </a:prstGeom>
          <a:solidFill>
            <a:srgbClr val="253B63"/>
          </a:solidFill>
          <a:ln w="12700">
            <a:solidFill>
              <a:srgbClr val="3DA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9077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217920" y="3611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Нобелевская премия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913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мировое признание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914400" cy="0"/>
          </a:xfrm>
          <a:prstGeom prst="line">
            <a:avLst/>
          </a:prstGeom>
          <a:noFill/>
          <a:ln w="25400">
            <a:solidFill>
              <a:srgbClr val="F4B8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Хронобиология – малоизвестная наука</dc:title>
  <dc:subject>PptxGenJS Presentation</dc:subject>
  <dc:creator>Студент</dc:creator>
  <cp:lastModifiedBy>Студент</cp:lastModifiedBy>
  <cp:revision>1</cp:revision>
  <dcterms:created xsi:type="dcterms:W3CDTF">2026-04-23T16:46:20Z</dcterms:created>
  <dcterms:modified xsi:type="dcterms:W3CDTF">2026-04-23T16:46:20Z</dcterms:modified>
</cp:coreProperties>
</file>