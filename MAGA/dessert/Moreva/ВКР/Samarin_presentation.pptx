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" cy="38404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ГУАП  •  Кафедра №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индивидуальному заданию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по теме ВКР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5029200" cy="0"/>
          </a:xfrm>
          <a:prstGeom prst="line">
            <a:avLst/>
          </a:prstGeom>
          <a:noFill/>
          <a:ln w="15240">
            <a:solidFill>
              <a:srgbClr val="C89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магистерской диссертации:</a:t>
            </a:r>
            <a:endParaRPr lang="en-US" sz="12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автоматизированного синтеза программного кода</a:t>
            </a:r>
            <a:endParaRPr lang="en-US" sz="12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промышленных контроллеров на основе графовой модели</a:t>
            </a:r>
            <a:endParaRPr lang="en-US" sz="12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 автоматизации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Самарин Д. В., гр. 3510М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 Морева С. Л.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Санкт-Петербург,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магистерского исследования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диссертации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трудоёмкости и количества ошибок при разработке ПО АСУ ТП за счёт автоматизированного синтеза кода стандарта IEC 61131-3 из формализованного описания электрической схемы.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15544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отчёта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Систематизировать методы научного исследования и обосновать их применение в выполняемой магистерской диссертации по трём аспектам: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информацией   </a:t>
            </a:r>
            <a:pPr indent="0" marL="0">
              <a:buNone/>
            </a:pPr>
            <a:r>
              <a:rPr lang="en-US" sz="13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моделирование   </a:t>
            </a:r>
            <a:pPr indent="0" marL="0">
              <a:buNone/>
            </a:pPr>
            <a:r>
              <a:rPr lang="en-US" sz="130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результатов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ДОКЛАДА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задачи отчёта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80060" y="1691640"/>
            <a:ext cx="2606040" cy="274320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" y="1691640"/>
            <a:ext cx="2606040" cy="91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294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работы с информацией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3566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Анализ, сохранение и передача данных с использованием цифровых средств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8980" y="1691640"/>
            <a:ext cx="2606040" cy="274320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8980" y="1691640"/>
            <a:ext cx="2606040" cy="91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5186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5186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моделирование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51860" y="3566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моделей, алгоритм исследования, методы разработки моделей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7900" y="1691640"/>
            <a:ext cx="2606040" cy="274320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7900" y="1691640"/>
            <a:ext cx="2606040" cy="91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4078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4078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результатов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40780" y="35661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научности, адекватность модели, план экспериментальной апробации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 ·  РАБОТА С ИНФОРМАЦИЕЙ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Анализ, сохранение и передача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8620" y="16002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" y="1600200"/>
            <a:ext cx="73152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научного знания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220" y="25603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Эмпирический: наблюдение, измерение, эксперимент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Теоретический: формализация, абстрагирование, идеализация, индукция/дедукция, моделирование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Метатеоретический: соответствие нормам науки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3260" y="16002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260" y="1600200"/>
            <a:ext cx="73152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45186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186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средства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1860" y="25603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Форматы: JSON, XML; AutomationML, PLCOpen XML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СУБД: реляционные, документоориентированные, графовые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контроля версий (Git) — основа воспроизводимости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7900" y="160020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7900" y="1600200"/>
            <a:ext cx="73152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86500" y="1783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650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протоколы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86500" y="25603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Универсальные: HTTP/REST, gRPC, WebSocket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Промышленные: OPC UA (IEC 62541), Modbus TCP, MQTT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Сериализация: JSON, XML, Protocol Buffers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 ·  ПРИМЕНЕНИЕ В ДИССЕРТАЦИИ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62940" y="1874520"/>
            <a:ext cx="17830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1874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Электрическая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519172" y="2258568"/>
            <a:ext cx="146304" cy="146304"/>
          </a:xfrm>
          <a:prstGeom prst="rtTriangle">
            <a:avLst/>
          </a:prstGeom>
          <a:solidFill>
            <a:srgbClr val="C8932B"/>
          </a:solidFill>
          <a:ln/>
        </p:spPr>
      </p:sp>
      <p:sp>
        <p:nvSpPr>
          <p:cNvPr id="9" name="Shape 7"/>
          <p:cNvSpPr/>
          <p:nvPr/>
        </p:nvSpPr>
        <p:spPr>
          <a:xfrm>
            <a:off x="2674620" y="1874520"/>
            <a:ext cx="17830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4620" y="1874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JSON-описание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графа G = (V, 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7462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530852" y="2258568"/>
            <a:ext cx="146304" cy="146304"/>
          </a:xfrm>
          <a:prstGeom prst="rtTriangle">
            <a:avLst/>
          </a:prstGeom>
          <a:solidFill>
            <a:srgbClr val="C8932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6300" y="1874520"/>
            <a:ext cx="17830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6300" y="1874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синтеза кода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630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542532" y="2258568"/>
            <a:ext cx="146304" cy="146304"/>
          </a:xfrm>
          <a:prstGeom prst="rtTriangle">
            <a:avLst/>
          </a:prstGeom>
          <a:solidFill>
            <a:srgbClr val="C8932B"/>
          </a:solidFill>
          <a:ln/>
        </p:spPr>
      </p:sp>
      <p:sp>
        <p:nvSpPr>
          <p:cNvPr id="17" name="Shape 15"/>
          <p:cNvSpPr/>
          <p:nvPr/>
        </p:nvSpPr>
        <p:spPr>
          <a:xfrm>
            <a:off x="6697980" y="1874520"/>
            <a:ext cx="178308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7980" y="1874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ПЛК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 / PLCOpen XML)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9798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61131-3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20440"/>
            <a:ext cx="54864" cy="114300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Формализация: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схема → типизированный ориентированный граф G = (V, 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Хранение: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(вход), PLCOpen XML (выход), Git для версионирования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Передача: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 API — совместимость с существующими ECAD- и PLC-инструментами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 ·  МАТЕМАТИЧЕСКОЕ МОДЕЛИРОВАНИЕ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Понятие модели и алгоритм исследования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0233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3108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(КУБЛАНОВ)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заместитель оригинала, позволяющий изучить некоторые его свойства в определённых условиях.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мат. моделей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линейные / нелинейные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стационарные / нестационарные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непрерывные / дискретные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детерминированные / стохастические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чёткие / нечёткие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3840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600200"/>
            <a:ext cx="54864" cy="310896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ИССЛЕДОВАНИЯ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шагов по М.С. Кубланову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3774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оригинала, постановка задачи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Феноменологическое описание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Математическое описание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алгоритма и ПО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вычислительный эксперимент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адекватности; при необходимости — возврат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исследовательского эксперимента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Проведение эксперимента, обработка результатов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Анализ; при необходимости — возврат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выводов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 ·  МЕТОДЫ РАЗРАБОТКИ МОДЕЛЕЙ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методы и приёмы упрощения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параметров по важности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Агрегирование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задачи на независимые блоки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67712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67712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677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подобия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Π-теорема, безразмерные комплексы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267712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267712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2677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графов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с дискретной структурой связей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80944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80944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809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масс. обслуж.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Стохастические потоки заявок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980944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980944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809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Монте-Карло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Имитация на случайных числах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694176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694176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941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Вычислительные методы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СЛАУ, интерполяция, интегрирование, оптимизация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694176"/>
            <a:ext cx="3931920" cy="64008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694176"/>
            <a:ext cx="54864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6941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Приёмы упрощения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Линеаризация, метод малого параметра, безразмерные величины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1554480"/>
            <a:ext cx="54864" cy="6400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1554480"/>
            <a:ext cx="54864" cy="6400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2267712"/>
            <a:ext cx="54864" cy="6400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43484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применяется в диссертации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 ·  ПРИМЕНЕНИЕ В ДИССЕРТАЦИИ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модели и математический аппарат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04672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МОДЕЛИ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· Символьная · Детерминированная · Дискретная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931920" cy="21945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06040"/>
            <a:ext cx="54864" cy="2194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графов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 топологии схемы, обход графа O(V+E)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формальных языков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IR и AST программы IEC 61131-3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· Ранжирование · Абстрагирование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синтеза, отбор существенных свойств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3931920" cy="21945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606040"/>
            <a:ext cx="54864" cy="219456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ПРИМЕНЯЕТСЯ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063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масс. обслуживания · Монте-Карло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синтеза детерминирован, стохастика отсутствует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подобия · Π-теорема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размерных физ. величин; объекты дискретные типизированные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 ·  ОЦЕНКА РЕЗУЛЬТАТОВ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научности и адекватность модели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02336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3108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НАУЧНОСТИ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установление истинности через эмпирическую проверку — наблюдение, измерение, эксперимент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Фальсификация (К. Поппер)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научна, если возможен опровергающий эксперимент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Применяются совместно: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фальсифицируемость — постановка задачи, верифицируемость — истинность результата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84048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00200"/>
            <a:ext cx="54864" cy="310896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АДЕКВАТНОСТЬ МОДЕЛИ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|Δu| ≤ Δu_доп — рассогласование параметров модели и оригинала не превышает допустимого значения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Непротиворечивость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идентичный характер изменения параметров: возрастание, экстремумы, выпуклость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Свойства методов вычислений: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· аппроксимация · сходимость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91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 ·  ПЛАН АПРОБАЦИИ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3291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и количественные метрики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114800" cy="3108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АПРОБАЦИИ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Трудоёмкость разработки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чел.-час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3657600" cy="0"/>
          </a:xfrm>
          <a:prstGeom prst="line">
            <a:avLst/>
          </a:prstGeom>
          <a:noFill/>
          <a:ln w="6350">
            <a:solidFill>
              <a:srgbClr val="4A6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автогенерируемого кода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3657600" cy="0"/>
          </a:xfrm>
          <a:prstGeom prst="line">
            <a:avLst/>
          </a:prstGeom>
          <a:noFill/>
          <a:ln w="6350">
            <a:solidFill>
              <a:srgbClr val="4A6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переноса «схема → код»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1000 строк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3657600" cy="0"/>
          </a:xfrm>
          <a:prstGeom prst="line">
            <a:avLst/>
          </a:prstGeom>
          <a:noFill/>
          <a:ln w="6350">
            <a:solidFill>
              <a:srgbClr val="4A6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тестовой выборки паттернами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5204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31920"/>
            <a:ext cx="3657600" cy="0"/>
          </a:xfrm>
          <a:prstGeom prst="line">
            <a:avLst/>
          </a:prstGeom>
          <a:noFill/>
          <a:ln w="6350">
            <a:solidFill>
              <a:srgbClr val="4A6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77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работы прототипа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9776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f(|V|)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389120"/>
            <a:ext cx="3657600" cy="0"/>
          </a:xfrm>
          <a:prstGeom prst="line">
            <a:avLst/>
          </a:prstGeom>
          <a:noFill/>
          <a:ln w="6350">
            <a:solidFill>
              <a:srgbClr val="4A6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600200"/>
            <a:ext cx="3749040" cy="31089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600200"/>
            <a:ext cx="54864" cy="310896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типовых схем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тестовой выборке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788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эксперимент: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разработка vs. автоматический синтез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Статистическая обработка: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Шапиро–Уилка (нормальность);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Стьюдента / Уилкоксона;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доверительные интервалы при α = 0,05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206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4206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отчёта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868680"/>
          </a:xfrm>
          <a:prstGeom prst="rect">
            <a:avLst/>
          </a:prstGeom>
          <a:solidFill>
            <a:srgbClr val="283F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8686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ИНФОРМАЦИЕЙ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 схемы → ориентированный граф; JSON + PLCOpen XML + Git; REST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8046720" cy="868680"/>
          </a:xfrm>
          <a:prstGeom prst="rect">
            <a:avLst/>
          </a:prstGeom>
          <a:solidFill>
            <a:srgbClr val="283F61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61488"/>
            <a:ext cx="73152" cy="8686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71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МАТЕМАТИЧЕСКИЙ АППАРАТ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графов + теория формальных языков; обоснован отказ от стохастических методов и Π-теоремы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8046720" cy="868680"/>
          </a:xfrm>
          <a:prstGeom prst="rect">
            <a:avLst/>
          </a:prstGeom>
          <a:solidFill>
            <a:srgbClr val="283F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39896"/>
            <a:ext cx="73152" cy="86868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9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РЕЗУЛЬТАТОВ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1056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удовлетворяет критериям фальсифицируемости и верифицируемости; спланирован сравнительный эксперимент при α = 0,05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Методологическая обоснованность выбранного направления исследования подтверждена.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508760"/>
            <a:ext cx="1463040" cy="73152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520440"/>
            <a:ext cx="4572000" cy="822960"/>
          </a:xfrm>
          <a:prstGeom prst="rect">
            <a:avLst/>
          </a:prstGeom>
          <a:solidFill>
            <a:srgbClr val="F4F7FA"/>
          </a:solidFill>
          <a:ln w="635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520440"/>
            <a:ext cx="54864" cy="822960"/>
          </a:xfrm>
          <a:prstGeom prst="rect">
            <a:avLst/>
          </a:prstGeom>
          <a:solidFill>
            <a:srgbClr val="C8932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520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Самарин Д. В.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гр. 3510М   ·   ГУАП, кафедра № 31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ГУАП, каф. № 31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по теме ВКР</dc:title>
  <dc:subject>PptxGenJS Presentation</dc:subject>
  <dc:creator>Самарин Д.В.</dc:creator>
  <cp:lastModifiedBy>Самарин Д.В.</cp:lastModifiedBy>
  <cp:revision>1</cp:revision>
  <dcterms:created xsi:type="dcterms:W3CDTF">2026-05-15T22:54:33Z</dcterms:created>
  <dcterms:modified xsi:type="dcterms:W3CDTF">2026-05-15T22:54:33Z</dcterms:modified>
</cp:coreProperties>
</file>